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  <ns0:embeddedFont>
      <ns0:font typeface="Space Grotesk"/>
      <ns0:bold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e059150a-457d-41d5-9464-1af6d770c28b.fntdata" /><ns0:Relationship Id="rIdFont17" Type="http://schemas.openxmlformats.org/officeDocument/2006/relationships/font" Target="fonts/7cefe4fb-3184-40b7-bad1-d679071d37bd.fntdata" /><ns0:Relationship Id="rIdFont18" Type="http://schemas.openxmlformats.org/officeDocument/2006/relationships/font" Target="fonts/59e443dc-3e82-4d93-82d0-4e138d76dc8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05387" y="2404169"/>
            <a:ext cx="2181225" cy="304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337" y="3128069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787" y="3280469"/>
            <a:ext cx="2667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85134" y="2461319"/>
            <a:ext cx="242173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BAE0FD"/>
                </a:solidFill>
                <a:latin typeface="Plus Jakarta Sans"/>
              </a:rPr>
              <a:t>HACKATHON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1421" y="4080569"/>
            <a:ext cx="8489156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b="0" sz="2100" i="0" u="none">
                <a:solidFill>
                  <a:srgbClr val="94A3B8"/>
                </a:solidFill>
                <a:latin typeface="Plus Jakarta Sans"/>
              </a:rPr>
              <a:t>Smart Urban Grievance &amp; Duplicate Resolution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4558" y="3013769"/>
            <a:ext cx="3862982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600" i="0" u="none">
                <a:solidFill>
                  <a:srgbClr val="FFFFFF"/>
                </a:solidFill>
                <a:latin typeface="Space Grotesk"/>
              </a:rPr>
              <a:t>Civic</a:t>
            </a:r>
            <a:r>
              <a:rPr b="1" sz="6600" i="0" u="none">
                <a:solidFill>
                  <a:srgbClr val="3B82F6"/>
                </a:solidFill>
                <a:latin typeface="Space Grotesk"/>
              </a:rPr>
              <a:t>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0"/>
            <a:ext cx="56388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04800"/>
            <a:ext cx="5029200" cy="624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93665"/>
            <a:ext cx="3048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798540"/>
            <a:ext cx="3048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703415"/>
            <a:ext cx="3048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583084"/>
            <a:ext cx="628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35509"/>
            <a:ext cx="660082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The redundancy trap.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227040"/>
            <a:ext cx="5905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Massive citizen overlap delays triage.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131915"/>
            <a:ext cx="5905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Multiple trucks sent to identical locations.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5036790"/>
            <a:ext cx="5905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lus Jakarta Sans"/>
              </a:rPr>
              <a:t>True emergencies buried by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865090"/>
            <a:ext cx="26550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40 Calls, 1 Pothole.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769965"/>
            <a:ext cx="28217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Disjointed Dispatch.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674840"/>
            <a:ext cx="201215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SLA Backlogs.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57525"/>
            <a:ext cx="33528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057525"/>
            <a:ext cx="33528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57525"/>
            <a:ext cx="33528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448050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448050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448050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312" y="3619500"/>
            <a:ext cx="2000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575" y="361950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125" y="3619500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285750" y="762000"/>
            <a:ext cx="1276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Space Grotesk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1114425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AI-powered redressal.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286250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Citizen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4695825"/>
            <a:ext cx="3214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One-click photo upload.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125" y="4286250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AI Edge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0125" y="4695825"/>
            <a:ext cx="3214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Haversine NLP deduplication.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725" y="4286250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ICCC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725" y="4695825"/>
            <a:ext cx="32146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Consolidated smart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6800" y="2425005"/>
            <a:ext cx="38100" cy="461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14425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3-Tier deduplication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42500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0" y="2425005"/>
            <a:ext cx="9715500" cy="1285875"/>
          </a:xfrm>
          <a:prstGeom prst="roundRect">
            <a:avLst>
              <a:gd name="adj" fmla="val 118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409188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14500" y="4091880"/>
            <a:ext cx="9715500" cy="1285875"/>
          </a:xfrm>
          <a:prstGeom prst="roundRect">
            <a:avLst>
              <a:gd name="adj" fmla="val 118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575875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14500" y="5758755"/>
            <a:ext cx="9715500" cy="1285875"/>
          </a:xfrm>
          <a:prstGeom prst="roundRect">
            <a:avLst>
              <a:gd name="adj" fmla="val 118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125" y="2425005"/>
            <a:ext cx="933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Plus Jakarta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4091880"/>
            <a:ext cx="933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5758755"/>
            <a:ext cx="9334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8825" y="2739330"/>
            <a:ext cx="101631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Spatial Proximity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8825" y="3158430"/>
            <a:ext cx="10163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30-meter radius calculation locks nearby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8825" y="4406205"/>
            <a:ext cx="101631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Semantic NLP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8825" y="4825305"/>
            <a:ext cx="10163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Cross-lingual text embeddings match descriptions.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8825" y="6073080"/>
            <a:ext cx="101631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Master Ticket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8825" y="6492180"/>
            <a:ext cx="10163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Corroborating photos merged into root dossier.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01231" y="3338512"/>
            <a:ext cx="19050" cy="1524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4423" y="3338512"/>
            <a:ext cx="19050" cy="1524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285750" y="1966912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Engine Efficiency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879" y="3309937"/>
            <a:ext cx="2881312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2563EB"/>
                </a:solidFill>
                <a:latin typeface="Space Grotesk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1879" y="4605337"/>
            <a:ext cx="2881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34155"/>
                </a:solidFill>
                <a:latin typeface="Plus Jakarta Sans"/>
              </a:rPr>
              <a:t>Duplicate reduction.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4977" y="3309937"/>
            <a:ext cx="371475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Space Grotesk"/>
              </a:rPr>
              <a:t>380</a:t>
            </a:r>
            <a:r>
              <a:rPr b="1" sz="4800" i="0" u="none">
                <a:solidFill>
                  <a:srgbClr val="0F172A"/>
                </a:solidFill>
                <a:latin typeface="Space Grotesk"/>
              </a:rPr>
              <a:t>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4977" y="4605337"/>
            <a:ext cx="37147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34155"/>
                </a:solidFill>
                <a:latin typeface="Plus Jakarta Sans"/>
              </a:rPr>
              <a:t>AI inference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8175" y="3309937"/>
            <a:ext cx="3214687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Space Grotesk"/>
              </a:rPr>
              <a:t>₹14L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8175" y="4605337"/>
            <a:ext cx="3214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34155"/>
                </a:solidFill>
                <a:latin typeface="Plus Jakarta Sans"/>
              </a:rPr>
              <a:t>Fleet fuel savings.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4953000" cy="609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131790"/>
            <a:ext cx="2667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931890"/>
            <a:ext cx="2667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731990"/>
            <a:ext cx="2667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0" y="1702147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B5CF6"/>
                </a:solidFill>
                <a:latin typeface="Space Grotesk"/>
              </a:rPr>
              <a:t>COMMAND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054572"/>
            <a:ext cx="5715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MoHUA Live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2984152"/>
            <a:ext cx="46291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8B5CF6"/>
                </a:solidFill>
                <a:latin typeface="Plus Jakarta Sans"/>
              </a:rPr>
              <a:t>Zonal Heatmaps:</a:t>
            </a:r>
            <a:r>
              <a:rPr b="1" sz="2100" i="0" u="none">
                <a:solidFill>
                  <a:srgbClr val="8B5CF6"/>
                </a:solidFill>
                <a:latin typeface="Plus Jakarta Sans"/>
              </a:rPr>
              <a:t> Real-time issue clustering.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784252"/>
            <a:ext cx="46291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8B5CF6"/>
                </a:solidFill>
                <a:latin typeface="Plus Jakarta Sans"/>
              </a:rPr>
              <a:t>SLA Tracking:</a:t>
            </a:r>
            <a:r>
              <a:rPr b="1" sz="2100" i="0" u="none">
                <a:solidFill>
                  <a:srgbClr val="8B5CF6"/>
                </a:solidFill>
                <a:latin typeface="Plus Jakarta Sans"/>
              </a:rPr>
              <a:t> 94.2% on-time resolution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4584352"/>
            <a:ext cx="46291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8B5CF6"/>
                </a:solidFill>
                <a:latin typeface="Plus Jakarta Sans"/>
              </a:rPr>
              <a:t>Officer Routing:</a:t>
            </a:r>
            <a:r>
              <a:rPr b="1" sz="2100" i="0" u="none">
                <a:solidFill>
                  <a:srgbClr val="8B5CF6"/>
                </a:solidFill>
                <a:latin typeface="Plus Jakarta Sans"/>
              </a:rPr>
              <a:t> GPS-verified field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952625"/>
            <a:ext cx="5114925" cy="414337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34125" y="1952625"/>
            <a:ext cx="5095875" cy="4143375"/>
          </a:xfrm>
          <a:prstGeom prst="roundRect">
            <a:avLst>
              <a:gd name="adj" fmla="val 5517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8725" y="3028950"/>
            <a:ext cx="41814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91325" y="3019425"/>
            <a:ext cx="4181475" cy="95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367087"/>
            <a:ext cx="15240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862387"/>
            <a:ext cx="15240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357687"/>
            <a:ext cx="15240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3357562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3852862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4348162"/>
            <a:ext cx="1809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285750" y="762000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The CivicFix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2419350"/>
            <a:ext cx="4490561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Traditional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2409825"/>
            <a:ext cx="4490561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Space Grotesk"/>
              </a:rPr>
              <a:t>CivicFix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3525" y="3343275"/>
            <a:ext cx="4922043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lus Jakarta Sans"/>
              </a:rPr>
              <a:t>Manual sorting delays.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3525" y="3838575"/>
            <a:ext cx="4922043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lus Jakarta Sans"/>
              </a:rPr>
              <a:t>Wasted inspection fuel.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4333875"/>
            <a:ext cx="4922043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lus Jakarta Sans"/>
              </a:rPr>
              <a:t>Frustrated citizens.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700" y="3333750"/>
            <a:ext cx="4893468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Plus Jakarta Sans"/>
              </a:rPr>
              <a:t>Automated cluster synthesis.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3829050"/>
            <a:ext cx="4893468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Plus Jakarta Sans"/>
              </a:rPr>
              <a:t>Single efficient dispatch.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4700" y="4324350"/>
            <a:ext cx="4893468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Plus Jakarta Sans"/>
              </a:rPr>
              <a:t>Mandatory 48-Hour SLA.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194220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53037" y="4468117"/>
            <a:ext cx="1685925" cy="447675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51832" y="2361307"/>
            <a:ext cx="6688335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Ready to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344167"/>
            <a:ext cx="83343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94A3B8"/>
                </a:solidFill>
                <a:latin typeface="Plus Jakarta Sans"/>
              </a:rPr>
              <a:t>A 90-day deployment roadmap designed for Tier 1 to Tier 3 Indian municipalities.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7096" y="4582417"/>
            <a:ext cx="149780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47750"/>
            <a:ext cx="6893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https://pennstatehealthnews.org/wp-content/uploads/2018/05/EmergencySituationNR.jpg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47775"/>
            <a:ext cx="307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pennstatehealthnews.org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1927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https://cdn.dribbble.com/userupload/44660161/file/still-d19bffb3f1e850b3799c612f2d9463a7.png?format=webp&amp;resize=400x300&amp;vertical=center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19300"/>
            <a:ext cx="2012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dribbble.com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